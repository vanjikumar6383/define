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3F402-29DA-397B-6E58-41B761CB79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005959-859C-9FF4-7DA1-EFBCD45BB3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5F5159-A0B9-48B7-B24B-0C5CDF5AB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2D898-A8B6-4BA8-8CAA-2801FDC3129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97D482-5E9D-56CD-E97C-2EFC9AA74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AA2CA-913F-B967-9981-52C167C38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E67D-547A-4DF3-8AEA-E67819B1E9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0791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85FCE-485A-E498-5634-784AC83DC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3ADFE-FF7E-348C-E6DC-65C560EB9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AEF3F-F775-A1C5-D8F0-7676B92E2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2D898-A8B6-4BA8-8CAA-2801FDC3129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44DAD8-0B42-9A76-293D-D6521F81D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EE94F-42A2-9FDC-D629-37110730B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E67D-547A-4DF3-8AEA-E67819B1E9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360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67C00-6B4D-FA6F-9FCB-D01CABC73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B16DC-0F3E-D3BC-67BC-FFAAEAF24B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9574E-06EE-EC26-FF41-9EBC8C132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2D898-A8B6-4BA8-8CAA-2801FDC3129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C22B6-109B-75C1-7A47-AFFD46B45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718DB-E9FF-9532-9F37-0223E83DB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E67D-547A-4DF3-8AEA-E67819B1E9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0076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CD079-1B10-C9E2-5948-F2F55D4FF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2A073-0073-040A-8D3B-4476F1C702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D4E2B3-8DCD-BC92-30AE-E66768DCD1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87165D-20B7-C065-BCA2-259288569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2D898-A8B6-4BA8-8CAA-2801FDC3129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4F52A3-0694-3B49-C4BF-A3C50B82E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E9A3AA-4C02-AE67-E390-0D5374B3D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E67D-547A-4DF3-8AEA-E67819B1E9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690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9AC31-EAFB-F104-9F4E-7D1A3B8F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DD5E4A-5469-B1D6-4881-DCD8D6912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322485-984D-D971-FABB-763C6AFB29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979988-FF9B-DF99-E51C-8B9332E8FE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059B1B-0B06-7D73-267E-21F3F9973A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3C7DA4-2C10-B5B0-CCA8-99702A64E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2D898-A8B6-4BA8-8CAA-2801FDC3129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0E799F-6B2C-5813-4694-892F5CBAF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70C304-1F07-F2EA-9805-0272E419D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E67D-547A-4DF3-8AEA-E67819B1E9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297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C8011-C5B0-6205-9BA7-CB28ACB81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87BC55-4130-0601-E83C-808713200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2D898-A8B6-4BA8-8CAA-2801FDC3129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2FCD70-8107-567D-2971-36C8133E9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113FF9-D39E-8E34-FDB0-B884E2430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E67D-547A-4DF3-8AEA-E67819B1E9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248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08A447-04C1-FBF3-64C1-29C93BFBD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2D898-A8B6-4BA8-8CAA-2801FDC3129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D4E662-DAF8-3F1B-203E-3E8485EB6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9DC3EC-A692-FC5F-F987-7A3703EF9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E67D-547A-4DF3-8AEA-E67819B1E9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5346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4A290-3141-FCC8-C47C-1CEA49DC8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AB294-AE4F-A352-EE1E-B4A7F2450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C0EC39-B4BD-1D5C-7CB2-0052321FEA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12E2D-87CB-A4FF-0BB9-6BDDC1D8B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2D898-A8B6-4BA8-8CAA-2801FDC3129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F5579E-94CA-4674-F098-A1D7093C4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841358-5ADF-6905-5FF1-6777A94C7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E67D-547A-4DF3-8AEA-E67819B1E9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6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D4035-9F27-EEBE-93DD-E096AB282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E7BA1C-DAAB-0DD8-DDD5-48883CB0318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1778FC-BEBD-C938-BE03-51BC261767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0B1503-BBA5-3AAC-9B8B-5F72A0D0A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2D898-A8B6-4BA8-8CAA-2801FDC3129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B0703-7FDF-2591-9BE3-F5FCE07D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1FD893-7364-1498-D708-828C853EF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E67D-547A-4DF3-8AEA-E67819B1E9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631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66E69-2ECA-BFFA-2B65-4BE0D6666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20EF8F-4CA0-62A5-DF36-FC0A2E469B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7EC369-6C42-BC32-3FAE-909D4F899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2D898-A8B6-4BA8-8CAA-2801FDC3129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7EC10-06D3-8C8D-DE3D-41F51E4FC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745DB-EFD0-FFC4-E5EA-16344EDAC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E67D-547A-4DF3-8AEA-E67819B1E9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9270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7AF2FF-BDAA-3AB7-C9A9-0609367837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F718A9-6D3D-D1B1-A405-232B4BE8C0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AFF1A-5F59-A93F-A14C-80BE15F37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2D898-A8B6-4BA8-8CAA-2801FDC3129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D35D8-5DBD-3E03-E320-7F90F67B5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25B09-DE83-F09C-5439-ECB209307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E67D-547A-4DF3-8AEA-E67819B1E9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90276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F3EE29-B37D-A192-C866-D6B22998B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36BDB1-A5B2-569B-716D-889309ED34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203BA-4856-4230-C56B-9D0B57A2CA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22D898-A8B6-4BA8-8CAA-2801FDC3129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63C06-D6C4-650C-767C-4FAF55892C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BDEA3-C19B-B26E-450A-D4E98A2962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DAE67D-547A-4DF3-8AEA-E67819B1E9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2276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8589A07-38C1-46C1-7709-004A4F6C96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7347F1-28F4-CA71-7AD5-C85684D7431E}"/>
              </a:ext>
            </a:extLst>
          </p:cNvPr>
          <p:cNvSpPr txBox="1"/>
          <p:nvPr/>
        </p:nvSpPr>
        <p:spPr>
          <a:xfrm>
            <a:off x="914400" y="822960"/>
            <a:ext cx="10362895" cy="21031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sz="1300" b="1">
                <a:solidFill>
                  <a:srgbClr val="FECACA"/>
                </a:solidFill>
                <a:latin typeface="Segoe UI"/>
              </a:rPr>
              <a:t>HACKATHON TRACK: OVERALL   |   PROBLEM STATEMENT: PR 007
</a:t>
            </a:r>
          </a:p>
          <a:p>
            <a:pPr algn="ctr">
              <a:spcBef>
                <a:spcPts val="400"/>
              </a:spcBef>
            </a:pPr>
            <a:r>
              <a:rPr sz="3800" b="1">
                <a:solidFill>
                  <a:srgbClr val="FFFFFF"/>
                </a:solidFill>
                <a:latin typeface="Clash Display"/>
              </a:rPr>
              <a:t>nimad — AI Conversation Copilot
</a:t>
            </a:r>
          </a:p>
          <a:p>
            <a:pPr algn="ctr">
              <a:spcBef>
                <a:spcPts val="200"/>
              </a:spcBef>
            </a:pPr>
            <a:r>
              <a:rPr sz="1800" b="1">
                <a:solidFill>
                  <a:srgbClr val="FDE047"/>
                </a:solidFill>
                <a:latin typeface="Segoe UI"/>
              </a:rPr>
              <a:t>“Listen Better. Think Smarter. Decide Confidently.”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362895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TEAM: FUTURESTACK   •   DEFINE 4.0 NATIONAL HACKATHON
</a:t>
            </a:r>
          </a:p>
          <a:p>
            <a:pPr algn="ctr">
              <a:spcBef>
                <a:spcPts val="400"/>
              </a:spcBef>
            </a:pPr>
            <a:r>
              <a:rPr sz="1250">
                <a:solidFill>
                  <a:srgbClr val="FECACA"/>
                </a:solidFill>
                <a:latin typeface="Segoe UI"/>
              </a:rPr>
              <a:t>An in-meeting AI intelligence layer that understands objectives, answers questions, and records decisions in real-time.
</a:t>
            </a:r>
          </a:p>
          <a:p>
            <a:pPr algn="ctr">
              <a:spcBef>
                <a:spcPts val="200"/>
              </a:spcBef>
            </a:pPr>
            <a:r>
              <a:rPr sz="1050" b="1">
                <a:solidFill>
                  <a:srgbClr val="E2E8F0"/>
                </a:solidFill>
                <a:latin typeface="Segoe UI"/>
              </a:rPr>
              <a:t>FastAPI Async Core  •  128-dim Vector Memory Engine  •  Unobtrusive Browser HUD Over Any Meeting</a:t>
            </a:r>
          </a:p>
        </p:txBody>
      </p:sp>
    </p:spTree>
    <p:extLst>
      <p:ext uri="{BB962C8B-B14F-4D97-AF65-F5344CB8AC3E}">
        <p14:creationId xmlns:p14="http://schemas.microsoft.com/office/powerpoint/2010/main" val="1555230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7D30F-F474-145D-8B02-899120514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8B3ADE6-55B2-DB09-35FB-ACD7B727F3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FAB06F3-41C8-96EC-7994-14E2238DD8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778E16-AB36-B327-231C-23621FEBF5DE}"/>
              </a:ext>
            </a:extLst>
          </p:cNvPr>
          <p:cNvSpPr txBox="1"/>
          <p:nvPr/>
        </p:nvSpPr>
        <p:spPr>
          <a:xfrm>
            <a:off x="176979" y="175655"/>
            <a:ext cx="72562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lash Display"/>
              </a:defRPr>
            </a:pPr>
            <a:r>
              <a:t>Introduction — The Human Conversation Dilemma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051560"/>
            <a:ext cx="5303520" cy="53035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0"/>
          <a:lstStyle/>
          <a:p>
            <a:pPr algn="ctr"/>
            <a:r>
              <a:rPr sz="1500" b="1">
                <a:solidFill>
                  <a:srgbClr val="DC2626"/>
                </a:solidFill>
                <a:latin typeface="Clash Display"/>
              </a:rPr>
              <a:t>THE CORE COGNITIVE CONFLICT IN MEETINGS
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FFFFF"/>
                </a:solidFill>
                <a:latin typeface="Segoe UI"/>
              </a:rPr>
              <a:t>• The 'Listen-Think-Respond' Trap: </a:t>
            </a:r>
            <a:r>
              <a:rPr sz="1000">
                <a:solidFill>
                  <a:srgbClr val="E2E8F0"/>
                </a:solidFill>
                <a:latin typeface="Segoe UI"/>
              </a:rPr>
              <a:t>In sales calls, customer support, contract negotiations, and technical reviews, people are forced to listen actively, synthesize complex concepts, and formulate articulate replies simultaneously.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FFFFF"/>
                </a:solidFill>
                <a:latin typeface="Segoe UI"/>
              </a:rPr>
              <a:t>• Cognitive Overload &amp; Blind Spots: </a:t>
            </a:r>
            <a:r>
              <a:rPr sz="1000">
                <a:solidFill>
                  <a:srgbClr val="E2E8F0"/>
                </a:solidFill>
                <a:latin typeface="Segoe UI"/>
              </a:rPr>
              <a:t>Because human working memory is severely constrained, critical nuances, unanswered objections, and binding commitments routinely get dropped in high-velocity discussions.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FFFFF"/>
                </a:solidFill>
                <a:latin typeface="Segoe UI"/>
              </a:rPr>
              <a:t>• What Nimad Actually Does: </a:t>
            </a:r>
            <a:r>
              <a:rPr sz="1000">
                <a:solidFill>
                  <a:srgbClr val="E2E8F0"/>
                </a:solidFill>
                <a:latin typeface="Segoe UI"/>
              </a:rPr>
              <a:t>Nimad is an objective-aware AI copilot that runs silently alongside live discussions. It captures speech, tracks conversation progress against your goals, and surfaces instant 1-2 sentence spoken answers in real time.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FFFFF"/>
                </a:solidFill>
                <a:latin typeface="Segoe UI"/>
              </a:rPr>
              <a:t>• Who Benefits Immediately: </a:t>
            </a:r>
            <a:r>
              <a:rPr sz="1000">
                <a:solidFill>
                  <a:srgbClr val="E2E8F0"/>
                </a:solidFill>
                <a:latin typeface="Segoe UI"/>
              </a:rPr>
              <a:t>Sales reps closing enterprise deals, support engineers resolving technical escalations, executives negotiating M&amp;A, and distributed engineering teams finalizing SLAs.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51560"/>
            <a:ext cx="5212080" cy="5303520"/>
          </a:xfrm>
          <a:prstGeom prst="roundRect">
            <a:avLst/>
          </a:prstGeom>
          <a:solidFill>
            <a:srgbClr val="181F2F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201168" tIns="182880" bIns="182880"/>
          <a:lstStyle/>
          <a:p>
            <a:pPr algn="ctr"/>
            <a:r>
              <a:rPr sz="1200" b="1">
                <a:solidFill>
                  <a:srgbClr val="FFFFFF"/>
                </a:solidFill>
                <a:latin typeface="Clash Display"/>
              </a:rPr>
              <a:t>LIVE PRODUCT INTERFACE — NIMAD CALENDAR &amp; WORKSPACE</a:t>
            </a:r>
          </a:p>
        </p:txBody>
      </p:sp>
      <p:pic>
        <p:nvPicPr>
          <p:cNvPr id="11" name="Picture 10" descr="dashboard_live_sc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600200"/>
            <a:ext cx="4846320" cy="30175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400800" y="4754880"/>
            <a:ext cx="4846320" cy="13716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201168" tIns="109728" bIns="182880"/>
          <a:lstStyle/>
          <a:p>
            <a:pPr algn="ctr"/>
            <a:r>
              <a:rPr b="1" sz="1000">
                <a:solidFill>
                  <a:srgbClr val="10B981"/>
                </a:solidFill>
              </a:rPr>
              <a:t>Key Verified Capability:
</a:t>
            </a:r>
            <a:r>
              <a:rPr sz="950">
                <a:solidFill>
                  <a:srgbClr val="E2E8F0"/>
                </a:solidFill>
              </a:rPr>
              <a:t>Synchronized Google Calendar workspace with meeting motive tracking, attended vs. upcoming shading, and instantaneous Q&amp;A ledger previews.</a:t>
            </a:r>
          </a:p>
        </p:txBody>
      </p:sp>
    </p:spTree>
    <p:extLst>
      <p:ext uri="{BB962C8B-B14F-4D97-AF65-F5344CB8AC3E}">
        <p14:creationId xmlns:p14="http://schemas.microsoft.com/office/powerpoint/2010/main" val="1187196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F532F-76E1-8542-0DFD-3AA1BB5C0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46B701-C6E1-23D5-56DC-D19B0873E0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19731B-ED4D-72E4-5194-A21BF17CCA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680F1E4-89DE-A828-3167-54A44B825891}"/>
              </a:ext>
            </a:extLst>
          </p:cNvPr>
          <p:cNvSpPr txBox="1"/>
          <p:nvPr/>
        </p:nvSpPr>
        <p:spPr>
          <a:xfrm>
            <a:off x="176979" y="175655"/>
            <a:ext cx="72562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lash Display"/>
              </a:defRPr>
            </a:pPr>
            <a:r>
              <a:t>Problem Statement — Why Important Discussions Fail (PR 007)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051560"/>
            <a:ext cx="5212080" cy="22402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01168" tIns="182880" bIns="182880"/>
          <a:lstStyle/>
          <a:p>
            <a:pPr algn="ctr"/>
            <a:r>
              <a:rPr sz="1400" b="1">
                <a:solidFill>
                  <a:srgbClr val="DC2626"/>
                </a:solidFill>
                <a:latin typeface="Clash Display"/>
              </a:rPr>
              <a:t>1. Missed Critical Points
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E2E8F0"/>
                </a:solidFill>
                <a:latin typeface="Segoe UI"/>
              </a:rPr>
              <a:t>Fast discussions outpace note-taking. Crucial customer requirements, technical objections, and implicit caveats are lost forever once the video call disconnects.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51560"/>
            <a:ext cx="5212080" cy="22402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01168" tIns="182880" bIns="182880"/>
          <a:lstStyle/>
          <a:p>
            <a:pPr algn="ctr"/>
            <a:r>
              <a:rPr sz="1400" b="1">
                <a:solidFill>
                  <a:srgbClr val="F59E0B"/>
                </a:solidFill>
                <a:latin typeface="Clash Display"/>
              </a:rPr>
              <a:t>2. Unfamiliar Concepts &amp; Terms
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E2E8F0"/>
                </a:solidFill>
                <a:latin typeface="Segoe UI"/>
              </a:rPr>
              <a:t>Prospects and stakeholders bring up niche compliance standards (SOC2, CMEK), competitor claims, or legal terms that catch the host off guard without real-time recall.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5212080" cy="22402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01168" tIns="182880" bIns="182880"/>
          <a:lstStyle/>
          <a:p>
            <a:pPr algn="ctr"/>
            <a:r>
              <a:rPr sz="1400" b="1">
                <a:solidFill>
                  <a:srgbClr val="0EA5E9"/>
                </a:solidFill>
                <a:latin typeface="Clash Display"/>
              </a:rPr>
              <a:t>3. Unanswered &amp; Stalled Questions
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E2E8F0"/>
                </a:solidFill>
                <a:latin typeface="Segoe UI"/>
              </a:rPr>
              <a:t>When tough questions arise, people either guess incorrectly or say 'I'll get back to you', which stalls negotiation momentum and prolongs enterprise sales cycles.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566160"/>
            <a:ext cx="5212080" cy="22402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01168" tIns="182880" bIns="182880"/>
          <a:lstStyle/>
          <a:p>
            <a:pPr algn="ctr"/>
            <a:r>
              <a:rPr sz="1400" b="1">
                <a:solidFill>
                  <a:srgbClr val="10B981"/>
                </a:solidFill>
                <a:latin typeface="Clash Display"/>
              </a:rPr>
              <a:t>4. Forgotten Decisions &amp; Next Steps
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E2E8F0"/>
                </a:solidFill>
                <a:latin typeface="Segoe UI"/>
              </a:rPr>
              <a:t>Commitments made verbally during meetings evaporate without clear accountability, owners, or confirmed delivery dates, creating project execution bottlenecks.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943600"/>
            <a:ext cx="10698480" cy="640080"/>
          </a:xfrm>
          <a:prstGeom prst="roundRect">
            <a:avLst/>
          </a:prstGeom>
          <a:solidFill>
            <a:srgbClr val="991B1B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28600" bIns="18288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THE ROOT CAUSE: Humans cannot multitask listening, analytical reasoning, and vocal synthesis simultaneously under pressure.</a:t>
            </a:r>
          </a:p>
        </p:txBody>
      </p:sp>
    </p:spTree>
    <p:extLst>
      <p:ext uri="{BB962C8B-B14F-4D97-AF65-F5344CB8AC3E}">
        <p14:creationId xmlns:p14="http://schemas.microsoft.com/office/powerpoint/2010/main" val="737756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697DE-A69C-DB69-602C-E82B395E4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3562A1-D1DB-0FFD-7D2B-D75749F06C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2052C3-1640-835C-D6CB-1CA225E34F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DA9BCA3-4C87-7F41-5A3C-34B94BE2D2A0}"/>
              </a:ext>
            </a:extLst>
          </p:cNvPr>
          <p:cNvSpPr txBox="1"/>
          <p:nvPr/>
        </p:nvSpPr>
        <p:spPr>
          <a:xfrm>
            <a:off x="176979" y="175655"/>
            <a:ext cx="72562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lash Display"/>
              </a:defRPr>
            </a:pPr>
            <a:r>
              <a:t>Proposed Solution — An AI Intelligence Layer Over Any 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051560"/>
            <a:ext cx="10698480" cy="7772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201168" tIns="228600" bIns="182880"/>
          <a:lstStyle/>
          <a:p>
            <a:pPr algn="ctr"/>
            <a:r>
              <a:rPr sz="1000" b="1">
                <a:solidFill>
                  <a:srgbClr val="DC2626"/>
                </a:solidFill>
              </a:rPr>
              <a:t>CORE ARCHITECTURAL THESIS:
</a:t>
            </a:r>
            <a:r>
              <a:rPr sz="1300" b="1">
                <a:solidFill>
                  <a:srgbClr val="FFFFFF"/>
                </a:solidFill>
                <a:latin typeface="Clash Display"/>
              </a:rPr>
              <a:t>“We are not building another video-conferencing platform. We are building an AI intelligence layer on top of existing meeting ecosystems.”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965960"/>
            <a:ext cx="2514600" cy="29260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201168" tIns="182880" bIns="182880"/>
          <a:lstStyle/>
          <a:p>
            <a:pPr algn="ctr"/>
            <a:r>
              <a:rPr sz="1200" b="1">
                <a:solidFill>
                  <a:srgbClr val="0EA5E9"/>
                </a:solidFill>
                <a:latin typeface="Clash Display"/>
              </a:rPr>
              <a:t>Step 1: Dual Audio Ingestion
</a:t>
            </a:r>
            <a:r>
              <a:rPr sz="1000">
                <a:solidFill>
                  <a:srgbClr val="E2E8F0"/>
                </a:solidFill>
                <a:latin typeface="Segoe UI"/>
              </a:rPr>
              <a:t>Captures local mic and attendee speaker audio without clunky bot avatars joining the call.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965960"/>
            <a:ext cx="2514600" cy="29260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201168" tIns="182880" bIns="182880"/>
          <a:lstStyle/>
          <a:p>
            <a:pPr algn="ctr"/>
            <a:r>
              <a:rPr sz="1200" b="1">
                <a:solidFill>
                  <a:srgbClr val="F59E0B"/>
                </a:solidFill>
                <a:latin typeface="Clash Display"/>
              </a:rPr>
              <a:t>Step 2: Objective Understanding
</a:t>
            </a:r>
            <a:r>
              <a:rPr sz="1000">
                <a:solidFill>
                  <a:srgbClr val="E2E8F0"/>
                </a:solidFill>
                <a:latin typeface="Segoe UI"/>
              </a:rPr>
              <a:t>Anchors dialogue to the user's defined meeting motive and live 0–100% alignment meter.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965960"/>
            <a:ext cx="2514600" cy="29260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201168" tIns="182880" bIns="182880"/>
          <a:lstStyle/>
          <a:p>
            <a:pPr algn="ctr"/>
            <a:r>
              <a:rPr sz="1200" b="1">
                <a:solidFill>
                  <a:srgbClr val="DC2626"/>
                </a:solidFill>
                <a:latin typeface="Clash Display"/>
              </a:rPr>
              <a:t>Step 3: Instant Spoken Answers
</a:t>
            </a:r>
            <a:r>
              <a:rPr sz="1000">
                <a:solidFill>
                  <a:srgbClr val="E2E8F0"/>
                </a:solidFill>
                <a:latin typeface="Segoe UI"/>
              </a:rPr>
              <a:t>Surfaces 1–2 sentence ready-to-speak suggestions before you reply, powered by vector memory.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1965960"/>
            <a:ext cx="2514600" cy="29260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201168" tIns="182880" bIns="182880"/>
          <a:lstStyle/>
          <a:p>
            <a:pPr algn="ctr"/>
            <a:r>
              <a:rPr sz="1200" b="1">
                <a:solidFill>
                  <a:srgbClr val="10B981"/>
                </a:solidFill>
                <a:latin typeface="Clash Display"/>
              </a:rPr>
              <a:t>Step 4: Decisions &amp; Governance
</a:t>
            </a:r>
            <a:r>
              <a:rPr sz="1000">
                <a:solidFill>
                  <a:srgbClr val="E2E8F0"/>
                </a:solidFill>
                <a:latin typeface="Segoe UI"/>
              </a:rPr>
              <a:t>Extracts confirmed agreements, assigns action items with deadlines, and drafts recap emails.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29200"/>
            <a:ext cx="10698480" cy="1508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01168" tIns="137160" bIns="182880"/>
          <a:lstStyle/>
          <a:p>
            <a:pPr algn="ctr"/>
            <a:r>
              <a:rPr b="1" sz="1100">
                <a:solidFill>
                  <a:srgbClr val="FFFFFF"/>
                </a:solidFill>
              </a:rPr>
              <a:t>DESIGNED FOR DISCRETION AND DUAL CONVERSATIONAL MODES:
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0EA5E9"/>
                </a:solidFill>
              </a:rPr>
              <a:t>• 1-on-1 vs. Group Mode: </a:t>
            </a:r>
            <a:r>
              <a:rPr sz="1000">
                <a:solidFill>
                  <a:srgbClr val="E2E8F0"/>
                </a:solidFill>
              </a:rPr>
              <a:t>Customized diarization for single-buyer discovery vs. multi-attendee team consensus reviews.
</a:t>
            </a:r>
            <a:r>
              <a:rPr b="1" sz="1000">
                <a:solidFill>
                  <a:srgbClr val="10B981"/>
                </a:solidFill>
              </a:rPr>
              <a:t>• Confidentiality &amp; Ephemeral Processing: </a:t>
            </a:r>
            <a:r>
              <a:rPr sz="1000">
                <a:solidFill>
                  <a:srgbClr val="E2E8F0"/>
                </a:solidFill>
              </a:rPr>
              <a:t>In-memory processing with automatic session purge, audio consent flags, and zero vendor model training.</a:t>
            </a:r>
          </a:p>
        </p:txBody>
      </p:sp>
    </p:spTree>
    <p:extLst>
      <p:ext uri="{BB962C8B-B14F-4D97-AF65-F5344CB8AC3E}">
        <p14:creationId xmlns:p14="http://schemas.microsoft.com/office/powerpoint/2010/main" val="2829264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3B4B9-78DF-CA30-FEC5-1D78DBA3D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D79B4C-73E4-7F94-903E-636B9E41EF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4DD60A-89C2-0268-4D2A-142037080F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9269F55-A8D0-AF52-4D37-C44FD377510C}"/>
              </a:ext>
            </a:extLst>
          </p:cNvPr>
          <p:cNvSpPr txBox="1"/>
          <p:nvPr/>
        </p:nvSpPr>
        <p:spPr>
          <a:xfrm>
            <a:off x="176979" y="175655"/>
            <a:ext cx="72562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lash Display"/>
              </a:defRPr>
            </a:pPr>
            <a:r>
              <a:t>Technical Architecture &amp; Tech Stack (Verified Implementation)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051560"/>
            <a:ext cx="342900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201168" tIns="182880" bIns="182880"/>
          <a:lstStyle/>
          <a:p>
            <a:pPr algn="ctr"/>
            <a:r>
              <a:rPr sz="1300" b="1">
                <a:solidFill>
                  <a:srgbClr val="0EA5E9"/>
                </a:solidFill>
                <a:latin typeface="Clash Display"/>
              </a:rPr>
              <a:t>1. Presentation &amp; Client Tier
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FFFFFF"/>
                </a:solidFill>
              </a:rPr>
              <a:t>• Frontend Core: </a:t>
            </a:r>
            <a:r>
              <a:rPr sz="950">
                <a:solidFill>
                  <a:srgbClr val="E2E8F0"/>
                </a:solidFill>
              </a:rPr>
              <a:t>Modern Vanilla HTML5, CSS3, ES Modules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FFFFFF"/>
                </a:solidFill>
              </a:rPr>
              <a:t>• Dashboard HUD: </a:t>
            </a:r>
            <a:r>
              <a:rPr sz="950">
                <a:solidFill>
                  <a:srgbClr val="E2E8F0"/>
                </a:solidFill>
              </a:rPr>
              <a:t>Real-time Google Calendar workspace &amp; motive score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FFFFFF"/>
                </a:solidFill>
              </a:rPr>
              <a:t>• Silver-White Shader: </a:t>
            </a:r>
            <a:r>
              <a:rPr sz="950">
                <a:solidFill>
                  <a:srgbClr val="E2E8F0"/>
                </a:solidFill>
              </a:rPr>
              <a:t>Custom WebGL fluid wave animation + 2D canvas fallback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FFFFFF"/>
                </a:solidFill>
              </a:rPr>
              <a:t>• Chrome Extension: </a:t>
            </a:r>
            <a:r>
              <a:rPr sz="950">
                <a:solidFill>
                  <a:srgbClr val="E2E8F0"/>
                </a:solidFill>
              </a:rPr>
              <a:t>Manifest V3 DOM observers for Meet, Zoom &amp; Teams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051560"/>
            <a:ext cx="342900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201168" tIns="182880" bIns="182880"/>
          <a:lstStyle/>
          <a:p>
            <a:pPr algn="ctr"/>
            <a:r>
              <a:rPr sz="1300" b="1">
                <a:solidFill>
                  <a:srgbClr val="DC2626"/>
                </a:solidFill>
                <a:latin typeface="Clash Display"/>
              </a:rPr>
              <a:t>2. Application &amp; API Gateway
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FFFFFF"/>
                </a:solidFill>
              </a:rPr>
              <a:t>• FastAPI Backend: </a:t>
            </a:r>
            <a:r>
              <a:rPr sz="950">
                <a:solidFill>
                  <a:srgbClr val="E2E8F0"/>
                </a:solidFill>
              </a:rPr>
              <a:t>High-performance asynchronous Python (ASGI)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FFFFFF"/>
                </a:solidFill>
              </a:rPr>
              <a:t>• Audio Diarization: </a:t>
            </a:r>
            <a:r>
              <a:rPr sz="950">
                <a:solidFill>
                  <a:srgbClr val="E2E8F0"/>
                </a:solidFill>
              </a:rPr>
              <a:t>Dual-channel WebRTC + tab speaker stream isolation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FFFFFF"/>
                </a:solidFill>
              </a:rPr>
              <a:t>• AI Inference Engine: </a:t>
            </a:r>
            <a:r>
              <a:rPr sz="950">
                <a:solidFill>
                  <a:srgbClr val="E2E8F0"/>
                </a:solidFill>
              </a:rPr>
              <a:t>Groq / OpenAI API with smart structured JSON schema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FFFFFF"/>
                </a:solidFill>
              </a:rPr>
              <a:t>• Deterministic Fallback: </a:t>
            </a:r>
            <a:r>
              <a:rPr sz="950">
                <a:solidFill>
                  <a:srgbClr val="E2E8F0"/>
                </a:solidFill>
              </a:rPr>
              <a:t>100% offline local heuristic NLP fallback analyzer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1051560"/>
            <a:ext cx="342900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201168" tIns="182880" bIns="182880"/>
          <a:lstStyle/>
          <a:p>
            <a:pPr algn="ctr"/>
            <a:r>
              <a:rPr sz="1300" b="1">
                <a:solidFill>
                  <a:srgbClr val="10B981"/>
                </a:solidFill>
                <a:latin typeface="Clash Display"/>
              </a:rPr>
              <a:t>3. Storage &amp; Semantic Memory
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FFFFFF"/>
                </a:solidFill>
              </a:rPr>
              <a:t>• Relational DB: </a:t>
            </a:r>
            <a:r>
              <a:rPr sz="950">
                <a:solidFill>
                  <a:srgbClr val="E2E8F0"/>
                </a:solidFill>
              </a:rPr>
              <a:t>SQLite async via SQLAlchemy connection pooling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FFFFFF"/>
                </a:solidFill>
              </a:rPr>
              <a:t>• Vector Memory: </a:t>
            </a:r>
            <a:r>
              <a:rPr sz="950">
                <a:solidFill>
                  <a:srgbClr val="E2E8F0"/>
                </a:solidFill>
              </a:rPr>
              <a:t>Native 128-dim dense embeddings with cosine similarity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FFFFFF"/>
                </a:solidFill>
              </a:rPr>
              <a:t>• Multi-Speaker Diarization: </a:t>
            </a:r>
            <a:r>
              <a:rPr sz="950">
                <a:solidFill>
                  <a:srgbClr val="E2E8F0"/>
                </a:solidFill>
              </a:rPr>
              <a:t>Attendee voice profiling &amp; screen role mapping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FFFFFF"/>
                </a:solidFill>
              </a:rPr>
              <a:t>• Data Privacy: </a:t>
            </a:r>
            <a:r>
              <a:rPr sz="950">
                <a:solidFill>
                  <a:srgbClr val="E2E8F0"/>
                </a:solidFill>
              </a:rPr>
              <a:t>AES-256 transit/rest encryption, ephemeral purges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698480" cy="1234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01168" tIns="109728" bIns="182880"/>
          <a:lstStyle/>
          <a:p>
            <a:pPr algn="ctr"/>
            <a:r>
              <a:rPr b="1" sz="1050">
                <a:solidFill>
                  <a:srgbClr val="FFFFFF"/>
                </a:solidFill>
              </a:rPr>
              <a:t>VERIFIED END-TO-END DATAFLOW:
</a:t>
            </a:r>
            <a:r>
              <a:rPr sz="1000" b="1">
                <a:solidFill>
                  <a:srgbClr val="F59E0B"/>
                </a:solidFill>
                <a:latin typeface="Segoe UI"/>
              </a:rPr>
              <a:t>Microphone &amp; Tab Audio  →  STT Engine  →  FastAPI Router  →  AI Adapter (Groq / Heuristic)  →  Vector DB Memory Matching  →  Real-Time HUD Suggestions &amp; Action Log</a:t>
            </a:r>
          </a:p>
        </p:txBody>
      </p:sp>
    </p:spTree>
    <p:extLst>
      <p:ext uri="{BB962C8B-B14F-4D97-AF65-F5344CB8AC3E}">
        <p14:creationId xmlns:p14="http://schemas.microsoft.com/office/powerpoint/2010/main" val="1747258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9B737-8178-B83E-95E2-43577ECAA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14070D-E90F-03EA-C68D-83D25723DB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409A7DD-E682-E93E-4243-4DC3E27177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951BB3C-E90B-A26C-3140-E8CE949EE2D5}"/>
              </a:ext>
            </a:extLst>
          </p:cNvPr>
          <p:cNvSpPr txBox="1"/>
          <p:nvPr/>
        </p:nvSpPr>
        <p:spPr>
          <a:xfrm>
            <a:off x="176979" y="175655"/>
            <a:ext cx="72562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lash Display"/>
              </a:defRPr>
            </a:pPr>
            <a:r>
              <a:t>User Experience &amp; Usability — Unobtrusive &amp; Accessible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051560"/>
            <a:ext cx="5120640" cy="53035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01168" tIns="182880" bIns="182880"/>
          <a:lstStyle/>
          <a:p>
            <a:pPr algn="ctr"/>
            <a:r>
              <a:rPr sz="1400" b="1">
                <a:solidFill>
                  <a:srgbClr val="DC2626"/>
                </a:solidFill>
                <a:latin typeface="Clash Display"/>
              </a:rPr>
              <a:t>INTUITIVE, HIGH-CONTRAST INTERFACE DESIGN
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FFFFFF"/>
                </a:solidFill>
              </a:rPr>
              <a:t>• Discreet Floating HUD Pill: </a:t>
            </a:r>
            <a:r>
              <a:rPr sz="950">
                <a:solidFill>
                  <a:srgbClr val="E2E8F0"/>
                </a:solidFill>
              </a:rPr>
              <a:t>Chrome extension overlay rests unobtrusively at the screen perimeter without blocking slides or attendee faces.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FFFFFF"/>
                </a:solidFill>
              </a:rPr>
              <a:t>• Objective Coverage Meter: </a:t>
            </a:r>
            <a:r>
              <a:rPr sz="950">
                <a:solidFill>
                  <a:srgbClr val="E2E8F0"/>
                </a:solidFill>
              </a:rPr>
              <a:t>Live visual 0–100% progress gauge indicates in real-time whether the host is covering planned agenda points.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FFFFFF"/>
                </a:solidFill>
              </a:rPr>
              <a:t>• Interactive Transcript Stream: </a:t>
            </a:r>
            <a:r>
              <a:rPr sz="950">
                <a:solidFill>
                  <a:srgbClr val="E2E8F0"/>
                </a:solidFill>
              </a:rPr>
              <a:t>Searchable, speaker-filtered transcript feed with instant copy-to-clipboard and export to .txt and .md formats.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FFFFFF"/>
                </a:solidFill>
              </a:rPr>
              <a:t>• Multi-Speaker Diarization Hotkeys: </a:t>
            </a:r>
            <a:r>
              <a:rPr sz="950">
                <a:solidFill>
                  <a:srgbClr val="E2E8F0"/>
                </a:solidFill>
              </a:rPr>
              <a:t>Switch active speaking participant instantly using single-key hotkeys (Keys 1-4 for You, Sarah, David, Priya).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FFFFFF"/>
                </a:solidFill>
              </a:rPr>
              <a:t>• Multilingual Accessibility: </a:t>
            </a:r>
            <a:r>
              <a:rPr sz="950">
                <a:solidFill>
                  <a:srgbClr val="E2E8F0"/>
                </a:solidFill>
              </a:rPr>
              <a:t>Real-time speech-to-text and instant localized suggestion cards in English, Tamil (தமிழ்), and Malayalam (മലയാളം).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1051560"/>
            <a:ext cx="5760720" cy="5257800"/>
          </a:xfrm>
          <a:prstGeom prst="roundRect">
            <a:avLst/>
          </a:prstGeom>
          <a:solidFill>
            <a:srgbClr val="181F2F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28600" bIns="182880"/>
          <a:lstStyle/>
          <a:p>
            <a:pPr algn="ctr"/>
          </a:p>
        </p:txBody>
      </p:sp>
      <p:pic>
        <p:nvPicPr>
          <p:cNvPr id="11" name="Picture 10" descr="shot_extension_pop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1417320"/>
            <a:ext cx="2331720" cy="4069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806440" y="5596128"/>
            <a:ext cx="233172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59E0B"/>
                </a:solidFill>
                <a:latin typeface="Segoe UI"/>
              </a:rPr>
              <a:t>Chrome Extension HUD
(Google Meet, Zoom, Teams)</a:t>
            </a:r>
          </a:p>
        </p:txBody>
      </p:sp>
      <p:pic>
        <p:nvPicPr>
          <p:cNvPr id="13" name="Picture 12" descr="dashboard_live_sc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1417320"/>
            <a:ext cx="3063240" cy="196596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275320" y="3438144"/>
            <a:ext cx="3063240" cy="2743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10B981"/>
                </a:solidFill>
                <a:latin typeface="Segoe UI"/>
              </a:rPr>
              <a:t>Calendar Workspace &amp; Motive Score</a:t>
            </a:r>
          </a:p>
        </p:txBody>
      </p:sp>
      <p:pic>
        <p:nvPicPr>
          <p:cNvPr id="15" name="Picture 14" descr="shot_landing_h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0" y="3822191"/>
            <a:ext cx="3063240" cy="1719072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275320" y="5596128"/>
            <a:ext cx="306324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0EA5E9"/>
                </a:solidFill>
                <a:latin typeface="Segoe UI"/>
              </a:rPr>
              <a:t>1-Click Meeting Launch
&amp; Real-Time WebGL HUD</a:t>
            </a:r>
          </a:p>
        </p:txBody>
      </p:sp>
    </p:spTree>
    <p:extLst>
      <p:ext uri="{BB962C8B-B14F-4D97-AF65-F5344CB8AC3E}">
        <p14:creationId xmlns:p14="http://schemas.microsoft.com/office/powerpoint/2010/main" val="923935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B4B98-07B5-3EC8-9964-2239BC850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34ECF1-1CE8-81A3-5155-0A42B29B54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8A2F706-DFDA-B862-40C6-D96385EEF1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559E74B-3C17-CE10-AF4F-6BDDCEBB98F3}"/>
              </a:ext>
            </a:extLst>
          </p:cNvPr>
          <p:cNvSpPr txBox="1"/>
          <p:nvPr/>
        </p:nvSpPr>
        <p:spPr>
          <a:xfrm>
            <a:off x="176979" y="175655"/>
            <a:ext cx="72562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lash Display"/>
              </a:defRPr>
            </a:pPr>
            <a:r>
              <a:t>Key Features &amp; Implementation Status (Strict Verification)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051560"/>
            <a:ext cx="3429000" cy="53035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201168" tIns="164592" bIns="182880"/>
          <a:lstStyle/>
          <a:p>
            <a:pPr algn="ctr"/>
            <a:r>
              <a:rPr sz="1150" b="1">
                <a:solidFill>
                  <a:srgbClr val="10B981"/>
                </a:solidFill>
                <a:latin typeface="Clash Display"/>
              </a:rPr>
              <a:t>IMPLEMENTED &amp; FULLY TESTED (100%)
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FFFFFF"/>
                </a:solidFill>
              </a:rPr>
              <a:t>✓ Real-Time Dual Audio Diarization: </a:t>
            </a:r>
            <a:r>
              <a:rPr sz="850">
                <a:solidFill>
                  <a:srgbClr val="E2E8F0"/>
                </a:solidFill>
              </a:rPr>
              <a:t>Separates user mic from screen attendee audio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FFFFFF"/>
                </a:solidFill>
              </a:rPr>
              <a:t>✓ Sub-Second Spoken Answer Generator: </a:t>
            </a:r>
            <a:r>
              <a:rPr sz="850">
                <a:solidFill>
                  <a:srgbClr val="E2E8F0"/>
                </a:solidFill>
              </a:rPr>
              <a:t>Instant 1-2 sentence replies &amp; talking points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FFFFFF"/>
                </a:solidFill>
              </a:rPr>
              <a:t>✓ Objective Alignment Meter: </a:t>
            </a:r>
            <a:r>
              <a:rPr sz="850">
                <a:solidFill>
                  <a:srgbClr val="E2E8F0"/>
                </a:solidFill>
              </a:rPr>
              <a:t>Live 0-100% goal coverage &amp; drift prevention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FFFFFF"/>
                </a:solidFill>
              </a:rPr>
              <a:t>✓ Decisions &amp; Action Items Ledger: </a:t>
            </a:r>
            <a:r>
              <a:rPr sz="850">
                <a:solidFill>
                  <a:srgbClr val="E2E8F0"/>
                </a:solidFill>
              </a:rPr>
              <a:t>Automated extraction with owner and due date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FFFFFF"/>
                </a:solidFill>
              </a:rPr>
              <a:t>✓ Vector Semantic Memory Engine: </a:t>
            </a:r>
            <a:r>
              <a:rPr sz="850">
                <a:solidFill>
                  <a:srgbClr val="E2E8F0"/>
                </a:solidFill>
              </a:rPr>
              <a:t>128-dim dense embedding cosine retrieval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FFFFFF"/>
                </a:solidFill>
              </a:rPr>
              <a:t>✓ Multilingual Support (EN, TA, ML): </a:t>
            </a:r>
            <a:r>
              <a:rPr sz="850">
                <a:solidFill>
                  <a:srgbClr val="E2E8F0"/>
                </a:solidFill>
              </a:rPr>
              <a:t>Automatic language detection &amp; native answers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FFFFFF"/>
                </a:solidFill>
              </a:rPr>
              <a:t>✓ Google Calendar Visual Workspace: </a:t>
            </a:r>
            <a:r>
              <a:rPr sz="850">
                <a:solidFill>
                  <a:srgbClr val="E2E8F0"/>
                </a:solidFill>
              </a:rPr>
              <a:t>Attended vs. upcoming meeting state shading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FFFFFF"/>
                </a:solidFill>
              </a:rPr>
              <a:t>✓ Backend Test Suite: </a:t>
            </a:r>
            <a:r>
              <a:rPr sz="850">
                <a:solidFill>
                  <a:srgbClr val="E2E8F0"/>
                </a:solidFill>
              </a:rPr>
              <a:t>26 / 26 unit and integration tests passing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051560"/>
            <a:ext cx="3429000" cy="53035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201168" tIns="164592" bIns="182880"/>
          <a:lstStyle/>
          <a:p>
            <a:pPr algn="ctr"/>
            <a:r>
              <a:rPr sz="1150" b="1">
                <a:solidFill>
                  <a:srgbClr val="F59E0B"/>
                </a:solidFill>
                <a:latin typeface="Clash Display"/>
              </a:rPr>
              <a:t>PARTIALLY IMPLEMENTED / BETA
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FFFFFF"/>
                </a:solidFill>
              </a:rPr>
              <a:t>• WebRTC Peer-to-Peer Signaling: </a:t>
            </a:r>
            <a:r>
              <a:rPr sz="850">
                <a:solidFill>
                  <a:srgbClr val="E2E8F0"/>
                </a:solidFill>
              </a:rPr>
              <a:t>Multi-party mesh operational on local/LAN; STUN/TURN traversal in staging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FFFFFF"/>
                </a:solidFill>
              </a:rPr>
              <a:t>• Google Calendar OAuth Sync: </a:t>
            </a:r>
            <a:r>
              <a:rPr sz="850">
                <a:solidFill>
                  <a:srgbClr val="E2E8F0"/>
                </a:solidFill>
              </a:rPr>
              <a:t>Database models and endpoints active; production Google Cloud verification in progress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FFFFFF"/>
                </a:solidFill>
              </a:rPr>
              <a:t>• Audio Tone &amp; Sentiment Analysis: </a:t>
            </a:r>
            <a:r>
              <a:rPr sz="850">
                <a:solidFill>
                  <a:srgbClr val="E2E8F0"/>
                </a:solidFill>
              </a:rPr>
              <a:t>Heuristic indicators active; fine-grained acoustic emotion modeling in progress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1051560"/>
            <a:ext cx="3429000" cy="53035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201168" tIns="164592" bIns="182880"/>
          <a:lstStyle/>
          <a:p>
            <a:pPr algn="ctr"/>
            <a:r>
              <a:rPr sz="1150" b="1">
                <a:solidFill>
                  <a:srgbClr val="0EA5E9"/>
                </a:solidFill>
                <a:latin typeface="Clash Display"/>
              </a:rPr>
              <a:t>FUTURE ROADMAP / PLANNED
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FFFFFF"/>
                </a:solidFill>
              </a:rPr>
              <a:t>• Native Desktop Tray HUD: </a:t>
            </a:r>
            <a:r>
              <a:rPr sz="850">
                <a:solidFill>
                  <a:srgbClr val="E2E8F0"/>
                </a:solidFill>
              </a:rPr>
              <a:t>Electron / Tauri system-tray app for zero-browser overlay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FFFFFF"/>
                </a:solidFill>
              </a:rPr>
              <a:t>• Bi-Directional CRM Sync: </a:t>
            </a:r>
            <a:r>
              <a:rPr sz="850">
                <a:solidFill>
                  <a:srgbClr val="E2E8F0"/>
                </a:solidFill>
              </a:rPr>
              <a:t>Automated push to Salesforce, HubSpot, and Notion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FFFFFF"/>
                </a:solidFill>
              </a:rPr>
              <a:t>• Hardware Audio Controller: </a:t>
            </a:r>
            <a:r>
              <a:rPr sz="850">
                <a:solidFill>
                  <a:srgbClr val="E2E8F0"/>
                </a:solidFill>
              </a:rPr>
              <a:t>Stream Deck integration for silent physical mute &amp; suggestion cycling</a:t>
            </a:r>
          </a:p>
        </p:txBody>
      </p:sp>
    </p:spTree>
    <p:extLst>
      <p:ext uri="{BB962C8B-B14F-4D97-AF65-F5344CB8AC3E}">
        <p14:creationId xmlns:p14="http://schemas.microsoft.com/office/powerpoint/2010/main" val="2804763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6E270-9A35-5083-40F8-BB3A67CD3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A9E128F-DE44-FBDA-B31C-946FA4A463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6DD026-120A-3106-6C02-5DDA8524B5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0FC4D7B-8C51-628B-22F4-69821D1FBAE9}"/>
              </a:ext>
            </a:extLst>
          </p:cNvPr>
          <p:cNvSpPr txBox="1"/>
          <p:nvPr/>
        </p:nvSpPr>
        <p:spPr>
          <a:xfrm>
            <a:off x="176979" y="175655"/>
            <a:ext cx="72562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lash Display"/>
              </a:defRPr>
            </a:pPr>
            <a:r>
              <a:t>Live Demo with UI — Real 4-Step Operational 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051560"/>
            <a:ext cx="4754880" cy="5257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/>
            <a:r>
              <a:rPr sz="1400" b="1">
                <a:solidFill>
                  <a:srgbClr val="DC2626"/>
                </a:solidFill>
                <a:latin typeface="Clash Display"/>
              </a:rPr>
              <a:t>END-TO-END DEMO WORKFLOW
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59E0B"/>
                </a:solidFill>
              </a:rPr>
              <a:t>Step 1: Setup Meeting Objective
</a:t>
            </a:r>
            <a:r>
              <a:rPr sz="950">
                <a:solidFill>
                  <a:srgbClr val="E2E8F0"/>
                </a:solidFill>
              </a:rPr>
              <a:t>User opens Google Calendar workspace and schedules meeting with Primary Objective (e.g., 'Review high-availability architecture &amp; verify SOC2 SIEM export').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59E0B"/>
                </a:solidFill>
              </a:rPr>
              <a:t>Step 2: Dual-Channel Live Meeting
</a:t>
            </a:r>
            <a:r>
              <a:rPr sz="950">
                <a:solidFill>
                  <a:srgbClr val="E2E8F0"/>
                </a:solidFill>
              </a:rPr>
              <a:t>Host and remote attendee talk. WebRTC &amp; tab observer streams real-time speech into distinct audio channels without bot intrusion.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59E0B"/>
                </a:solidFill>
              </a:rPr>
              <a:t>Step 3: Instant Suggestion Surfaced
</a:t>
            </a:r>
            <a:r>
              <a:rPr sz="950">
                <a:solidFill>
                  <a:srgbClr val="E2E8F0"/>
                </a:solidFill>
              </a:rPr>
              <a:t>Prospect asks: 'How do you handle failovers?'. Nimad triggers instant 1-2 sentence answer citing 99.9% uptime SLA across GCP regions.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59E0B"/>
                </a:solidFill>
              </a:rPr>
              <a:t>Step 4: Decisions &amp; Action Items Logged
</a:t>
            </a:r>
            <a:r>
              <a:rPr sz="950">
                <a:solidFill>
                  <a:srgbClr val="E2E8F0"/>
                </a:solidFill>
              </a:rPr>
              <a:t>Meeting wraps up. 1-click generation of confirmed decisions, action item assignments, and ready-to-send recap email draft.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1051560"/>
            <a:ext cx="5760720" cy="5257800"/>
          </a:xfrm>
          <a:prstGeom prst="roundRect">
            <a:avLst/>
          </a:prstGeom>
          <a:solidFill>
            <a:srgbClr val="181F2F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228600" bIns="182880"/>
          <a:lstStyle/>
          <a:p>
            <a:pPr algn="ctr"/>
          </a:p>
        </p:txBody>
      </p:sp>
      <p:pic>
        <p:nvPicPr>
          <p:cNvPr id="11" name="Picture 10" descr="dashboard_live_sc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417320"/>
            <a:ext cx="5394960" cy="19659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852160" y="3438144"/>
            <a:ext cx="5394960" cy="2743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10B981"/>
                </a:solidFill>
                <a:latin typeface="Segoe UI"/>
              </a:rPr>
              <a:t>Step 1 &amp; 2: Google Calendar Workspace, Agenda &amp; Objective Setup</a:t>
            </a:r>
          </a:p>
        </p:txBody>
      </p:sp>
      <p:pic>
        <p:nvPicPr>
          <p:cNvPr id="13" name="Picture 12" descr="shot_landing_h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3822191"/>
            <a:ext cx="5394960" cy="171907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852160" y="5596128"/>
            <a:ext cx="539496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59E0B"/>
                </a:solidFill>
                <a:latin typeface="Segoe UI"/>
              </a:rPr>
              <a:t>Step 3 &amp; 4: Live Meeting Room Copilot &amp; Sub-Second Answer Extraction</a:t>
            </a:r>
          </a:p>
        </p:txBody>
      </p:sp>
    </p:spTree>
    <p:extLst>
      <p:ext uri="{BB962C8B-B14F-4D97-AF65-F5344CB8AC3E}">
        <p14:creationId xmlns:p14="http://schemas.microsoft.com/office/powerpoint/2010/main" val="1525779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AFECF-CACD-B1CD-C6E1-9C657EB58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3E39C2-6D94-85D5-B871-38F6239407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EF8453-BFA1-1C36-6B39-C927C6A5C7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7EC384-8EF2-B395-37B7-36C6527D8447}"/>
              </a:ext>
            </a:extLst>
          </p:cNvPr>
          <p:cNvSpPr txBox="1"/>
          <p:nvPr/>
        </p:nvSpPr>
        <p:spPr>
          <a:xfrm>
            <a:off x="176979" y="175655"/>
            <a:ext cx="72562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lash Display"/>
              </a:defRPr>
            </a:pPr>
            <a:r>
              <a:t>Impact, Feasibility &amp; Scalability — Built for Enterprise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051560"/>
            <a:ext cx="3429000" cy="53035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201168" tIns="182880" bIns="182880"/>
          <a:lstStyle/>
          <a:p>
            <a:pPr algn="ctr"/>
            <a:r>
              <a:rPr sz="1300" b="1">
                <a:solidFill>
                  <a:srgbClr val="0EA5E9"/>
                </a:solidFill>
                <a:latin typeface="Clash Display"/>
              </a:rPr>
              <a:t>1. High-Value Business Impact
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FFFFFF"/>
                </a:solidFill>
              </a:rPr>
              <a:t>• Sales Pitches: </a:t>
            </a:r>
            <a:r>
              <a:rPr sz="950">
                <a:solidFill>
                  <a:srgbClr val="E2E8F0"/>
                </a:solidFill>
              </a:rPr>
              <a:t>Eliminates hesitant pauses; increases deal velocity by resolving objections immediately.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FFFFFF"/>
                </a:solidFill>
              </a:rPr>
              <a:t>• Customer Support: </a:t>
            </a:r>
            <a:r>
              <a:rPr sz="950">
                <a:solidFill>
                  <a:srgbClr val="E2E8F0"/>
                </a:solidFill>
              </a:rPr>
              <a:t>Resolves complex technical tickets on first contact without escalation delays.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FFFFFF"/>
                </a:solidFill>
              </a:rPr>
              <a:t>• Contract Negotiations: </a:t>
            </a:r>
            <a:r>
              <a:rPr sz="950">
                <a:solidFill>
                  <a:srgbClr val="E2E8F0"/>
                </a:solidFill>
              </a:rPr>
              <a:t>Anchors dialogue to pre-set boundaries and prevents unplanned commercial concessions.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FFFFFF"/>
                </a:solidFill>
              </a:rPr>
              <a:t>• Engineering Reviews: </a:t>
            </a:r>
            <a:r>
              <a:rPr sz="950">
                <a:solidFill>
                  <a:srgbClr val="E2E8F0"/>
                </a:solidFill>
              </a:rPr>
              <a:t>Ensures zero architectural decisions or action items are lost to conversational drift.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051560"/>
            <a:ext cx="3429000" cy="53035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201168" tIns="182880" bIns="182880"/>
          <a:lstStyle/>
          <a:p>
            <a:pPr algn="ctr"/>
            <a:r>
              <a:rPr sz="1300" b="1">
                <a:solidFill>
                  <a:srgbClr val="F59E0B"/>
                </a:solidFill>
                <a:latin typeface="Clash Display"/>
              </a:rPr>
              <a:t>2. Technical Feasibility
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FFFFFF"/>
                </a:solidFill>
              </a:rPr>
              <a:t>• Sub-100ms Latency: </a:t>
            </a:r>
            <a:r>
              <a:rPr sz="950">
                <a:solidFill>
                  <a:srgbClr val="E2E8F0"/>
                </a:solidFill>
              </a:rPr>
              <a:t>Asynchronous FastAPI pipeline delivers instant spoken suggestions during live speech.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FFFFFF"/>
                </a:solidFill>
              </a:rPr>
              <a:t>• Graceful Degradation: </a:t>
            </a:r>
            <a:r>
              <a:rPr sz="950">
                <a:solidFill>
                  <a:srgbClr val="E2E8F0"/>
                </a:solidFill>
              </a:rPr>
              <a:t>Seamless fallback to local heuristic NLP if third-party LLM APIs are unreachable.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FFFFFF"/>
                </a:solidFill>
              </a:rPr>
              <a:t>• Zero Bot Overhead: </a:t>
            </a:r>
            <a:r>
              <a:rPr sz="950">
                <a:solidFill>
                  <a:srgbClr val="E2E8F0"/>
                </a:solidFill>
              </a:rPr>
              <a:t>Runs cleanly in browser without hosting compute-heavy bot instances per attendee.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FFFFFF"/>
                </a:solidFill>
              </a:rPr>
              <a:t>• Resource Attribution: </a:t>
            </a:r>
            <a:r>
              <a:rPr sz="950">
                <a:solidFill>
                  <a:srgbClr val="E2E8F0"/>
                </a:solidFill>
              </a:rPr>
              <a:t>Tested and verified across local SQLite and scalable enterprise databases.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1051560"/>
            <a:ext cx="3429000" cy="53035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201168" tIns="182880" bIns="182880"/>
          <a:lstStyle/>
          <a:p>
            <a:pPr algn="ctr"/>
            <a:r>
              <a:rPr sz="1300" b="1">
                <a:solidFill>
                  <a:srgbClr val="10B981"/>
                </a:solidFill>
                <a:latin typeface="Clash Display"/>
              </a:rPr>
              <a:t>3. Realistic Scalability Roadmap
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FFFFFF"/>
                </a:solidFill>
              </a:rPr>
              <a:t>• Phase 1 (Completed): </a:t>
            </a:r>
            <a:r>
              <a:rPr sz="950">
                <a:solidFill>
                  <a:srgbClr val="E2E8F0"/>
                </a:solidFill>
              </a:rPr>
              <a:t>Real-time transcription, instant answer generation, and Google Calendar sync.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FFFFFF"/>
                </a:solidFill>
              </a:rPr>
              <a:t>• Phase 2 (Completed): </a:t>
            </a:r>
            <a:r>
              <a:rPr sz="950">
                <a:solidFill>
                  <a:srgbClr val="E2E8F0"/>
                </a:solidFill>
              </a:rPr>
              <a:t>128-dim dense vector memory graph and cross-meeting semantic search.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FFFFFF"/>
                </a:solidFill>
              </a:rPr>
              <a:t>• Phase 3 (Next Quarter): </a:t>
            </a:r>
            <a:r>
              <a:rPr sz="950">
                <a:solidFill>
                  <a:srgbClr val="E2E8F0"/>
                </a:solidFill>
              </a:rPr>
              <a:t>Automated bi-directional CRM connectors (Salesforce, HubSpot, Jira, Notion).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FFFFFF"/>
                </a:solidFill>
              </a:rPr>
              <a:t>• Phase 4 (Enterprise): </a:t>
            </a:r>
            <a:r>
              <a:rPr sz="950">
                <a:solidFill>
                  <a:srgbClr val="E2E8F0"/>
                </a:solidFill>
              </a:rPr>
              <a:t>Zero-knowledge on-premise private cloud deployment with CMEK encryption.</a:t>
            </a:r>
          </a:p>
        </p:txBody>
      </p:sp>
    </p:spTree>
    <p:extLst>
      <p:ext uri="{BB962C8B-B14F-4D97-AF65-F5344CB8AC3E}">
        <p14:creationId xmlns:p14="http://schemas.microsoft.com/office/powerpoint/2010/main" val="2839349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8EA48-E1D6-292D-96C4-9F0D93FE4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CA22FA-B46B-A276-82B9-8D4B30E374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475DC9-72AE-7640-8C9B-F3A9A6636B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90B4AA1-7491-5D09-DD6B-C5DC2215B24E}"/>
              </a:ext>
            </a:extLst>
          </p:cNvPr>
          <p:cNvSpPr txBox="1"/>
          <p:nvPr/>
        </p:nvSpPr>
        <p:spPr>
          <a:xfrm>
            <a:off x="176979" y="175655"/>
            <a:ext cx="72562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lash Display"/>
              </a:defRPr>
            </a:pPr>
            <a:r>
              <a:t>Conclusion — Summary &amp; Vision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1097280"/>
            <a:ext cx="9418320" cy="51206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 rIns="201168" tIns="274320" bIns="182880"/>
          <a:lstStyle/>
          <a:p>
            <a:pPr algn="ctr"/>
            <a:r>
              <a:rPr sz="1800" b="1">
                <a:solidFill>
                  <a:srgbClr val="DC2626"/>
                </a:solidFill>
                <a:latin typeface="Clash Display"/>
              </a:rPr>
              <a:t>THE INNOVATION AT A GLANCE
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FFFFF"/>
                </a:solidFill>
              </a:rPr>
              <a:t>• The Problem Solved: </a:t>
            </a:r>
            <a:r>
              <a:rPr sz="1100">
                <a:solidFill>
                  <a:srgbClr val="E2E8F0"/>
                </a:solidFill>
              </a:rPr>
              <a:t>Eliminates the cognitive impossibility of listening, thinking, and replying at the same time in high-stakes conversations.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FFFFF"/>
                </a:solidFill>
              </a:rPr>
              <a:t>• The Architectural Innovation: </a:t>
            </a:r>
            <a:r>
              <a:rPr sz="1100">
                <a:solidFill>
                  <a:srgbClr val="E2E8F0"/>
                </a:solidFill>
              </a:rPr>
              <a:t>An objective-aware AI layer that connects directly into your existing video meeting tools (Meet, Zoom, Teams) without replacing them.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FFFFF"/>
                </a:solidFill>
              </a:rPr>
              <a:t>• The Proven Reality: </a:t>
            </a:r>
            <a:r>
              <a:rPr sz="1100">
                <a:solidFill>
                  <a:srgbClr val="E2E8F0"/>
                </a:solidFill>
              </a:rPr>
              <a:t>Full working implementation with dual-channel audio, sub-second suggestion engine, vector semantic memory, and Google Calendar sync.</a:t>
            </a:r>
          </a:p>
          <a:p>
            <a:pPr algn="ctr">
              <a:spcBef>
                <a:spcPts val="2400"/>
              </a:spcBef>
            </a:pPr>
            <a:r>
              <a:rPr sz="2000" b="1">
                <a:solidFill>
                  <a:srgbClr val="F59E0B"/>
                </a:solidFill>
                <a:latin typeface="Clash Display"/>
              </a:rPr>
              <a:t>“Nimad — Listen Better. Think Smarter. Decide Confidently.”
</a:t>
            </a:r>
          </a:p>
          <a:p>
            <a:pPr algn="ctr">
              <a:spcBef>
                <a:spcPts val="1200"/>
              </a:spcBef>
            </a:pPr>
            <a:r>
              <a:rPr b="1" sz="1400">
                <a:solidFill>
                  <a:srgbClr val="FFFFFF"/>
                </a:solidFill>
              </a:rPr>
              <a:t>Thank You! We Welcome Questions &amp; Live Evaluation.
</a:t>
            </a:r>
            <a:r>
              <a:rPr sz="1100">
                <a:solidFill>
                  <a:srgbClr val="94A3B8"/>
                </a:solidFill>
              </a:rPr>
              <a:t>Team FutureStack   |   Problem Statement: PR 007   |   DEFINE 4.0 Hackathon</a:t>
            </a:r>
          </a:p>
        </p:txBody>
      </p:sp>
    </p:spTree>
    <p:extLst>
      <p:ext uri="{BB962C8B-B14F-4D97-AF65-F5344CB8AC3E}">
        <p14:creationId xmlns:p14="http://schemas.microsoft.com/office/powerpoint/2010/main" val="36559432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33</Words>
  <Application>Microsoft Office PowerPoint</Application>
  <PresentationFormat>Widescreen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Clash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Agnivesh Priyadarsanan</dc:creator>
  <cp:lastModifiedBy>Agnivesh Priyadarsanan</cp:lastModifiedBy>
  <cp:revision>3</cp:revision>
  <dcterms:created xsi:type="dcterms:W3CDTF">2026-10-09T18:53:17Z</dcterms:created>
  <dcterms:modified xsi:type="dcterms:W3CDTF">2026-10-09T19:11:34Z</dcterms:modified>
</cp:coreProperties>
</file>